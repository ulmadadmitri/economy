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3" r:id="rId4"/>
    <p:sldId id="262" r:id="rId5"/>
    <p:sldId id="261" r:id="rId6"/>
    <p:sldId id="260" r:id="rId7"/>
    <p:sldId id="259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5/16/2022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5/16/2022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5/16/2022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5/16/2022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5/16/2022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5/16/2022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5/16/2022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5/16/2022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5/16/2022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5/16/2022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5/16/2022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5/16/2022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F57FDE-FD8A-4E15-9FA5-637B4E495F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1800" b="1" dirty="0">
                <a:solidFill>
                  <a:schemeClr val="tx2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LOCUL REPUBLICII MOLDOVA IN ECONOMIA MONDIAL</a:t>
            </a:r>
            <a:r>
              <a:rPr lang="ro-RO" sz="1800" b="1" dirty="0">
                <a:solidFill>
                  <a:schemeClr val="tx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Ă</a:t>
            </a:r>
            <a:br>
              <a:rPr lang="ru-RU" sz="1800" dirty="0">
                <a:solidFill>
                  <a:schemeClr val="tx2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82A6CE-CE44-433E-8291-417A9D3A76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o-RO" sz="1800" b="1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PRINCIPIILE ECONOMIEI DE PIAȚĂ</a:t>
            </a:r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15F40D-D8EE-4548-B47F-7B844A2583FE}"/>
              </a:ext>
            </a:extLst>
          </p:cNvPr>
          <p:cNvSpPr txBox="1"/>
          <p:nvPr/>
        </p:nvSpPr>
        <p:spPr>
          <a:xfrm>
            <a:off x="4157949" y="6211669"/>
            <a:ext cx="3971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Elaborat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de Ulmada Dmitri</a:t>
            </a:r>
          </a:p>
          <a:p>
            <a:pPr algn="r"/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Grupa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IS11Z</a:t>
            </a:r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57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393F8E-0B8E-4180-B3F7-AB36380B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339" y="3147253"/>
            <a:ext cx="8219528" cy="2711679"/>
          </a:xfrm>
        </p:spPr>
        <p:txBody>
          <a:bodyPr>
            <a:normAutofit/>
          </a:bodyPr>
          <a:lstStyle/>
          <a:p>
            <a:pPr algn="l"/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1. Введение</a:t>
            </a:r>
            <a:br>
              <a:rPr lang="ru-RU" sz="2000" dirty="0">
                <a:solidFill>
                  <a:schemeClr val="tx2">
                    <a:lumMod val="50000"/>
                  </a:schemeClr>
                </a:solidFill>
                <a:latin typeface="+mn-lt"/>
              </a:rPr>
            </a:b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2. Рынок труда</a:t>
            </a:r>
            <a:br>
              <a:rPr lang="ru-RU" sz="2000" dirty="0">
                <a:solidFill>
                  <a:schemeClr val="tx2">
                    <a:lumMod val="50000"/>
                  </a:schemeClr>
                </a:solidFill>
                <a:latin typeface="+mn-lt"/>
              </a:rPr>
            </a:b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3. Рост потребления</a:t>
            </a:r>
            <a:br>
              <a:rPr lang="ru-RU" sz="2000" dirty="0">
                <a:solidFill>
                  <a:schemeClr val="tx2">
                    <a:lumMod val="50000"/>
                  </a:schemeClr>
                </a:solidFill>
                <a:latin typeface="+mn-lt"/>
              </a:rPr>
            </a:b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4. Зарубежные энергоресурсы</a:t>
            </a:r>
            <a:br>
              <a:rPr lang="ru-RU" sz="2000" dirty="0">
                <a:solidFill>
                  <a:schemeClr val="tx2">
                    <a:lumMod val="50000"/>
                  </a:schemeClr>
                </a:solidFill>
                <a:latin typeface="+mn-lt"/>
              </a:rPr>
            </a:b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5. Внутренние и внешние долги</a:t>
            </a:r>
            <a:br>
              <a:rPr lang="ru-RU" sz="2000" dirty="0">
                <a:solidFill>
                  <a:schemeClr val="tx2">
                    <a:lumMod val="50000"/>
                  </a:schemeClr>
                </a:solidFill>
                <a:latin typeface="+mn-lt"/>
              </a:rPr>
            </a:br>
            <a:r>
              <a:rPr lang="ru-RU" sz="2000" dirty="0">
                <a:solidFill>
                  <a:schemeClr val="tx2">
                    <a:lumMod val="50000"/>
                  </a:schemeClr>
                </a:solidFill>
                <a:latin typeface="+mn-lt"/>
              </a:rPr>
              <a:t>6. Заключение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1A6AD3-AC27-49FC-8711-B25DD7949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3137" y="736319"/>
            <a:ext cx="7791931" cy="878468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chemeClr val="accent6">
                    <a:lumMod val="75000"/>
                  </a:schemeClr>
                </a:solidFill>
              </a:rPr>
              <a:t>Оглавление</a:t>
            </a:r>
          </a:p>
        </p:txBody>
      </p:sp>
    </p:spTree>
    <p:extLst>
      <p:ext uri="{BB962C8B-B14F-4D97-AF65-F5344CB8AC3E}">
        <p14:creationId xmlns:p14="http://schemas.microsoft.com/office/powerpoint/2010/main" val="341192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393F8E-0B8E-4180-B3F7-AB36380B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339" y="3147253"/>
            <a:ext cx="8219528" cy="2711679"/>
          </a:xfrm>
        </p:spPr>
        <p:txBody>
          <a:bodyPr>
            <a:normAutofit fontScale="90000"/>
          </a:bodyPr>
          <a:lstStyle/>
          <a:p>
            <a:pPr algn="l"/>
            <a:r>
              <a:rPr lang="ro-RO" sz="18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Согласно данным Международного валютного фонда, по итогам 2017</a:t>
            </a:r>
            <a:br>
              <a:rPr lang="ru-RU" sz="18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o-RO" sz="18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года ВВП на душу населения по паритету покупательной способности</a:t>
            </a:r>
            <a:br>
              <a:rPr lang="ru-RU" sz="18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o-RO" sz="18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(ППС) у Молдовы остается самым низким в Европе – 5661 доллар (у развитых стран данный показатель в десятки раз выше). Экономические аналитики подсчитали, что Молдове потребуется более сотни лет, чтобы приблизиться к их сегодняшнему уровню развития при нынешних темпах роста ВВП. Для сравнения: Украина, которая четыре года находится в состоянии фактической гражданской войны, имеет уровень ВВП на душу населения по ППС в 8713 долларов, Российская Федерация – 27 834 доллара, Румыния –</a:t>
            </a:r>
            <a:r>
              <a:rPr lang="ru-RU" sz="1800" dirty="0">
                <a:solidFill>
                  <a:schemeClr val="tx2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18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24 508 долларов. По расчетам</a:t>
            </a:r>
            <a:r>
              <a:rPr lang="ru-RU" sz="18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18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экспертов-аналитиков, чтобы приблизиться к среднеевропейским показателям, стране необходимы темпы роста ВВП не</a:t>
            </a:r>
            <a:r>
              <a:rPr lang="ru-RU" sz="1800" dirty="0">
                <a:solidFill>
                  <a:schemeClr val="tx2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o-RO" sz="18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менее 10% в год.</a:t>
            </a:r>
            <a:endParaRPr lang="ru-RU" sz="1800" dirty="0">
              <a:solidFill>
                <a:schemeClr val="tx2">
                  <a:lumMod val="50000"/>
                </a:schemeClr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1A6AD3-AC27-49FC-8711-B25DD7949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3137" y="736319"/>
            <a:ext cx="7791931" cy="878468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chemeClr val="accent6">
                    <a:lumMod val="75000"/>
                  </a:schemeClr>
                </a:solidFill>
              </a:rPr>
              <a:t>Введение</a:t>
            </a:r>
          </a:p>
        </p:txBody>
      </p:sp>
    </p:spTree>
    <p:extLst>
      <p:ext uri="{BB962C8B-B14F-4D97-AF65-F5344CB8AC3E}">
        <p14:creationId xmlns:p14="http://schemas.microsoft.com/office/powerpoint/2010/main" val="3089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393F8E-0B8E-4180-B3F7-AB36380B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339" y="3147253"/>
            <a:ext cx="8219528" cy="3386897"/>
          </a:xfrm>
        </p:spPr>
        <p:txBody>
          <a:bodyPr>
            <a:normAutofit fontScale="90000"/>
          </a:bodyPr>
          <a:lstStyle/>
          <a:p>
            <a:pPr algn="l"/>
            <a:r>
              <a:rPr lang="ro-RO" sz="18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В настоящее время в Республике Молдова показатели</a:t>
            </a:r>
            <a:br>
              <a:rPr lang="ru-RU" sz="18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o-RO" sz="18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экономической активности и уровень занятости населения являются крайне</a:t>
            </a:r>
            <a:br>
              <a:rPr lang="ru-RU" sz="18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o-RO" sz="18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низкими во всех возрастных группах, особенно среди молодежи. Эта ситуация подтверждается анализом основных показателей на национальном рынке труда, представленным в Национальной стратегии занятости на 2017–2021 годы: «…ситуация на рынке труда остается по-прежнему критической, а основные показатели занятости населения в последние годы демонстрируют низкий уровень. Недостаток качественных рабочих мест, низкая производительность труда и низкий уровень доходов, неблагоприятные для сельской местности тенденции экономического развития, дискриминация определенных групп населения на рынке труда и незначительный институциональный потенциал привели к росту бедности, усилили социальное отчуждение и создали условия для внешней трудовой миграции в качестве альтернативы безработице и неформальной занятости населения».</a:t>
            </a:r>
            <a:endParaRPr lang="ru-RU" sz="1800" dirty="0">
              <a:solidFill>
                <a:schemeClr val="tx2">
                  <a:lumMod val="50000"/>
                </a:schemeClr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1A6AD3-AC27-49FC-8711-B25DD7949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3137" y="736319"/>
            <a:ext cx="7791931" cy="878468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chemeClr val="accent6">
                    <a:lumMod val="75000"/>
                  </a:schemeClr>
                </a:solidFill>
              </a:rPr>
              <a:t>Рынок труда</a:t>
            </a:r>
          </a:p>
        </p:txBody>
      </p:sp>
    </p:spTree>
    <p:extLst>
      <p:ext uri="{BB962C8B-B14F-4D97-AF65-F5344CB8AC3E}">
        <p14:creationId xmlns:p14="http://schemas.microsoft.com/office/powerpoint/2010/main" val="2750488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393F8E-0B8E-4180-B3F7-AB36380B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339" y="3147253"/>
            <a:ext cx="8219528" cy="2711679"/>
          </a:xfrm>
        </p:spPr>
        <p:txBody>
          <a:bodyPr>
            <a:normAutofit fontScale="90000"/>
          </a:bodyPr>
          <a:lstStyle/>
          <a:p>
            <a:pPr algn="l"/>
            <a:r>
              <a:rPr lang="ro-RO" sz="18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</a:rPr>
              <a:t>Рост потребления во многом обеспечивается за счет увеличивающихся объемов официальных денежных переводов наших соотечественников из-за рубежа и ввоза наличности. Это в свою очередь во многом обеспечило рост валовой добавленной стоимости в секторе оптовой и розничной торговли на 9,5%, удельный вес которой в ВВП достиг 14,8%. Следует отметить, что период интенсивного экономического роста в Молдове всегда тесно связан именно с переводами мигрантов. По данным НБС, с начала 2018 года денежные переводы из-за рубежа от физических лиц достигли почти миллиарда долларов, что на 9,5% больше, чем за аналогичный период 2017-го. Только в сентябре 2018 года наши соотечественники перевели в республику 97 миллионов долларов, из которых почти 43% пришли из стран Евросоюза и более 26% – из стран СНГ.</a:t>
            </a:r>
            <a:endParaRPr lang="ru-RU" sz="2000" dirty="0">
              <a:solidFill>
                <a:schemeClr val="tx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1A6AD3-AC27-49FC-8711-B25DD7949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3137" y="736319"/>
            <a:ext cx="7791931" cy="878468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chemeClr val="accent6">
                    <a:lumMod val="75000"/>
                  </a:schemeClr>
                </a:solidFill>
              </a:rPr>
              <a:t>Рост потребления</a:t>
            </a:r>
          </a:p>
        </p:txBody>
      </p:sp>
    </p:spTree>
    <p:extLst>
      <p:ext uri="{BB962C8B-B14F-4D97-AF65-F5344CB8AC3E}">
        <p14:creationId xmlns:p14="http://schemas.microsoft.com/office/powerpoint/2010/main" val="224979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393F8E-0B8E-4180-B3F7-AB36380B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339" y="3147253"/>
            <a:ext cx="8219528" cy="2711679"/>
          </a:xfrm>
        </p:spPr>
        <p:txBody>
          <a:bodyPr>
            <a:normAutofit/>
          </a:bodyPr>
          <a:lstStyle/>
          <a:p>
            <a:pPr algn="l"/>
            <a:r>
              <a:rPr lang="ro-RO" sz="16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Страна полностью зависит от зарубежных энергоресурсов. Молдавия не имеет собственных источников энергосырья, поэтому вынуждена импортировать 98% энергоресурсов. Перерасход энергии на единицу ВВП в 3–4 раза больше, чем в развитых странах. Местные энергетические ресурсы покрывают лишь 2% потребностей. За последние годы правительство Молдовы предприняло ряд мер по реконструкции энергетического сектора путем принятия ряда решений, направленных на открытие этого сектора для конкурентов и привлечение частных инвесторов.</a:t>
            </a:r>
            <a:endParaRPr lang="ru-RU" sz="1600" dirty="0">
              <a:solidFill>
                <a:schemeClr val="tx2">
                  <a:lumMod val="50000"/>
                </a:schemeClr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1A6AD3-AC27-49FC-8711-B25DD7949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3137" y="736319"/>
            <a:ext cx="7791931" cy="878468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chemeClr val="accent6">
                    <a:lumMod val="75000"/>
                  </a:schemeClr>
                </a:solidFill>
              </a:rPr>
              <a:t>Зарубежные энергоресурсы</a:t>
            </a:r>
          </a:p>
        </p:txBody>
      </p:sp>
    </p:spTree>
    <p:extLst>
      <p:ext uri="{BB962C8B-B14F-4D97-AF65-F5344CB8AC3E}">
        <p14:creationId xmlns:p14="http://schemas.microsoft.com/office/powerpoint/2010/main" val="696687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393F8E-0B8E-4180-B3F7-AB36380B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339" y="3147253"/>
            <a:ext cx="8219528" cy="3472622"/>
          </a:xfrm>
        </p:spPr>
        <p:txBody>
          <a:bodyPr>
            <a:normAutofit fontScale="90000"/>
          </a:bodyPr>
          <a:lstStyle/>
          <a:p>
            <a:pPr algn="l"/>
            <a:r>
              <a:rPr lang="ro-RO" sz="18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Внутригосударственные конфликты повысили степень инвестиционных рисков, вызвали недоверие и опасения иностранных инвесторов, которые не решаются вкладывать свои капиталы в экономику страны. Инвестиционный климат республики еще недостаточно благоприятен для большинства потенциальных иностранных инвесторов. Главным показателем, характеризующим инвестиционный климат страны, является уровень иностранных инвестиций в национальную экономику. По данным международной организации оценки инвестиционного климата, Молдова занимает по этому показателю одно из последних мест.</a:t>
            </a:r>
            <a:br>
              <a:rPr lang="ru-RU" sz="18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o-RO" sz="18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Выявилась и противоречивая тенденция: денег у банков становится все больше, а кредитов выдается значительно меньше даже при снижении процентных ставок с 10,03% до 8,72% годовых. Спрос на заемные средства снижается, что свидетельствует о замедляющемся темпе роста экономики.</a:t>
            </a:r>
            <a:br>
              <a:rPr lang="ru-RU" sz="18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sz="2000" dirty="0">
              <a:solidFill>
                <a:schemeClr val="tx2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1A6AD3-AC27-49FC-8711-B25DD7949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3137" y="736319"/>
            <a:ext cx="7791931" cy="878468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chemeClr val="accent6">
                    <a:lumMod val="75000"/>
                  </a:schemeClr>
                </a:solidFill>
              </a:rPr>
              <a:t>Внутренние и внешние долги</a:t>
            </a:r>
          </a:p>
        </p:txBody>
      </p:sp>
    </p:spTree>
    <p:extLst>
      <p:ext uri="{BB962C8B-B14F-4D97-AF65-F5344CB8AC3E}">
        <p14:creationId xmlns:p14="http://schemas.microsoft.com/office/powerpoint/2010/main" val="2121172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393F8E-0B8E-4180-B3F7-AB36380BD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9339" y="3147254"/>
            <a:ext cx="8219528" cy="3644072"/>
          </a:xfrm>
        </p:spPr>
        <p:txBody>
          <a:bodyPr>
            <a:normAutofit/>
          </a:bodyPr>
          <a:lstStyle/>
          <a:p>
            <a:pPr algn="l"/>
            <a:r>
              <a:rPr lang="ro-RO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Для построения стабильного и процветающего государства, выхода на новую качественную ступень развития в Молдове необходимо наличие следующих факторов:</a:t>
            </a:r>
            <a:br>
              <a:rPr lang="ru-RU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ro-RO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• соблюдение демократических принципов и основных прав граждан;</a:t>
            </a:r>
            <a:br>
              <a:rPr lang="ru-RU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ro-RO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• последовательные и непрерывные реформы в экономике;</a:t>
            </a:r>
            <a:br>
              <a:rPr lang="ru-RU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ro-RO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• качественное образование, здравоохранение;</a:t>
            </a:r>
            <a:br>
              <a:rPr lang="ru-RU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ro-RO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• на рынке труда необходимо обеспечить:</a:t>
            </a:r>
            <a:br>
              <a:rPr lang="ru-RU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ro-RO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Segoe UI Symbol" panose="020B0502040204020203" pitchFamily="34" charset="0"/>
              </a:rPr>
              <a:t>рост уровня формальной занятости, которая обеспечит повышение доходов населения, улучшение качества жизни и устойчивое сокращение бедности;</a:t>
            </a:r>
            <a:br>
              <a:rPr lang="ru-RU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Segoe UI Symbol" panose="020B0502040204020203" pitchFamily="34" charset="0"/>
              </a:rPr>
            </a:br>
            <a:r>
              <a:rPr lang="ru-RU" sz="1400" dirty="0">
                <a:solidFill>
                  <a:schemeClr val="tx2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Segoe UI Symbol" panose="020B0502040204020203" pitchFamily="34" charset="0"/>
              </a:rPr>
              <a:t>2. </a:t>
            </a:r>
            <a:r>
              <a:rPr lang="ro-RO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Segoe UI Symbol" panose="020B0502040204020203" pitchFamily="34" charset="0"/>
              </a:rPr>
              <a:t>создание равных возможностей трудоустройства и профессионального развития для мужчин, женщин и уязвимых групп населения;</a:t>
            </a:r>
            <a:br>
              <a:rPr lang="ru-RU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Segoe UI Symbol" panose="020B0502040204020203" pitchFamily="34" charset="0"/>
              </a:rPr>
            </a:br>
            <a:r>
              <a:rPr lang="ru-RU" sz="1400" dirty="0">
                <a:solidFill>
                  <a:schemeClr val="tx2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Segoe UI Symbol" panose="020B0502040204020203" pitchFamily="34" charset="0"/>
              </a:rPr>
              <a:t>3. </a:t>
            </a:r>
            <a:r>
              <a:rPr lang="ro-RO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Segoe UI Symbol" panose="020B0502040204020203" pitchFamily="34" charset="0"/>
              </a:rPr>
              <a:t>укрепление взаимосвязи между рынком труда и системой профессиональной подготовки с целью повышения уровня компетенций и квалификации, приема персонала на работу и приспособляемости к рынку труда, а также создание механизма быстрого реагирования на новые потребности рынка труда;</a:t>
            </a:r>
            <a:br>
              <a:rPr lang="ru-RU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Segoe UI Symbol" panose="020B0502040204020203" pitchFamily="34" charset="0"/>
              </a:rPr>
            </a:br>
            <a:r>
              <a:rPr lang="ru-RU" sz="1400" dirty="0">
                <a:solidFill>
                  <a:schemeClr val="tx2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Segoe UI Symbol" panose="020B0502040204020203" pitchFamily="34" charset="0"/>
              </a:rPr>
              <a:t>4. </a:t>
            </a:r>
            <a:r>
              <a:rPr lang="ro-RO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Segoe UI Symbol" panose="020B0502040204020203" pitchFamily="34" charset="0"/>
              </a:rPr>
              <a:t>использование потенциала международной трудовой миграции для реализации целей политики занятости;</a:t>
            </a:r>
            <a:br>
              <a:rPr lang="ru-RU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Segoe UI Symbol" panose="020B0502040204020203" pitchFamily="34" charset="0"/>
              </a:rPr>
            </a:br>
            <a:r>
              <a:rPr lang="ru-RU" sz="1400" dirty="0">
                <a:solidFill>
                  <a:schemeClr val="tx2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Segoe UI Symbol" panose="020B0502040204020203" pitchFamily="34" charset="0"/>
              </a:rPr>
              <a:t>5. </a:t>
            </a:r>
            <a:r>
              <a:rPr lang="ro-RO" sz="1400" dirty="0">
                <a:solidFill>
                  <a:schemeClr val="tx2">
                    <a:lumMod val="50000"/>
                  </a:schemeClr>
                </a:solidFill>
                <a:effectLst/>
                <a:latin typeface="+mn-lt"/>
                <a:ea typeface="Calibri" panose="020F0502020204030204" pitchFamily="34" charset="0"/>
                <a:cs typeface="Segoe UI Symbol" panose="020B0502040204020203" pitchFamily="34" charset="0"/>
              </a:rPr>
              <a:t>укрепление потенциала органов управления в сфере развития партнерств с целью улучшения политики занятости, с соблюдением принципа равенства возможностей.</a:t>
            </a:r>
            <a:endParaRPr lang="ru-RU" sz="1400" dirty="0">
              <a:solidFill>
                <a:schemeClr val="tx2">
                  <a:lumMod val="50000"/>
                </a:schemeClr>
              </a:solidFill>
              <a:effectLst/>
              <a:latin typeface="+mn-lt"/>
              <a:ea typeface="Calibri" panose="020F0502020204030204" pitchFamily="34" charset="0"/>
              <a:cs typeface="Segoe UI Symbol" panose="020B0502040204020203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1A6AD3-AC27-49FC-8711-B25DD79494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23137" y="736319"/>
            <a:ext cx="7791931" cy="878468"/>
          </a:xfrm>
        </p:spPr>
        <p:txBody>
          <a:bodyPr>
            <a:normAutofit/>
          </a:bodyPr>
          <a:lstStyle/>
          <a:p>
            <a:pPr algn="ctr"/>
            <a:r>
              <a:rPr lang="ru-RU" sz="3200" dirty="0">
                <a:solidFill>
                  <a:schemeClr val="accent6">
                    <a:lumMod val="75000"/>
                  </a:schemeClr>
                </a:solidFill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8719972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эдисон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{0E5247CB-0A8C-4118-8D5B-C8CD84BCAE67}tf16401375</Template>
  <TotalTime>24</TotalTime>
  <Words>812</Words>
  <Application>Microsoft Office PowerPoint</Application>
  <PresentationFormat>Широкоэкранный</PresentationFormat>
  <Paragraphs>18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Calibri</vt:lpstr>
      <vt:lpstr>MS Shell Dlg 2</vt:lpstr>
      <vt:lpstr>Times New Roman</vt:lpstr>
      <vt:lpstr>Wingdings</vt:lpstr>
      <vt:lpstr>Wingdings 3</vt:lpstr>
      <vt:lpstr>Мэдисон</vt:lpstr>
      <vt:lpstr>LOCUL REPUBLICII MOLDOVA IN ECONOMIA MONDIALĂ </vt:lpstr>
      <vt:lpstr>1. Введение 2. Рынок труда 3. Рост потребления 4. Зарубежные энергоресурсы 5. Внутренние и внешние долги 6. Заключение</vt:lpstr>
      <vt:lpstr>Согласно данным Международного валютного фонда, по итогам 2017 года ВВП на душу населения по паритету покупательной способности (ППС) у Молдовы остается самым низким в Европе – 5661 доллар (у развитых стран данный показатель в десятки раз выше). Экономические аналитики подсчитали, что Молдове потребуется более сотни лет, чтобы приблизиться к их сегодняшнему уровню развития при нынешних темпах роста ВВП. Для сравнения: Украина, которая четыре года находится в состоянии фактической гражданской войны, имеет уровень ВВП на душу населения по ППС в 8713 долларов, Российская Федерация – 27 834 доллара, Румыния – 24 508 долларов. По расчетам экспертов-аналитиков, чтобы приблизиться к среднеевропейским показателям, стране необходимы темпы роста ВВП не менее 10% в год.</vt:lpstr>
      <vt:lpstr>В настоящее время в Республике Молдова показатели экономической активности и уровень занятости населения являются крайне низкими во всех возрастных группах, особенно среди молодежи. Эта ситуация подтверждается анализом основных показателей на национальном рынке труда, представленным в Национальной стратегии занятости на 2017–2021 годы: «…ситуация на рынке труда остается по-прежнему критической, а основные показатели занятости населения в последние годы демонстрируют низкий уровень. Недостаток качественных рабочих мест, низкая производительность труда и низкий уровень доходов, неблагоприятные для сельской местности тенденции экономического развития, дискриминация определенных групп населения на рынке труда и незначительный институциональный потенциал привели к росту бедности, усилили социальное отчуждение и создали условия для внешней трудовой миграции в качестве альтернативы безработице и неформальной занятости населения».</vt:lpstr>
      <vt:lpstr>Рост потребления во многом обеспечивается за счет увеличивающихся объемов официальных денежных переводов наших соотечественников из-за рубежа и ввоза наличности. Это в свою очередь во многом обеспечило рост валовой добавленной стоимости в секторе оптовой и розничной торговли на 9,5%, удельный вес которой в ВВП достиг 14,8%. Следует отметить, что период интенсивного экономического роста в Молдове всегда тесно связан именно с переводами мигрантов. По данным НБС, с начала 2018 года денежные переводы из-за рубежа от физических лиц достигли почти миллиарда долларов, что на 9,5% больше, чем за аналогичный период 2017-го. Только в сентябре 2018 года наши соотечественники перевели в республику 97 миллионов долларов, из которых почти 43% пришли из стран Евросоюза и более 26% – из стран СНГ.</vt:lpstr>
      <vt:lpstr>Страна полностью зависит от зарубежных энергоресурсов. Молдавия не имеет собственных источников энергосырья, поэтому вынуждена импортировать 98% энергоресурсов. Перерасход энергии на единицу ВВП в 3–4 раза больше, чем в развитых странах. Местные энергетические ресурсы покрывают лишь 2% потребностей. За последние годы правительство Молдовы предприняло ряд мер по реконструкции энергетического сектора путем принятия ряда решений, направленных на открытие этого сектора для конкурентов и привлечение частных инвесторов.</vt:lpstr>
      <vt:lpstr>Внутригосударственные конфликты повысили степень инвестиционных рисков, вызвали недоверие и опасения иностранных инвесторов, которые не решаются вкладывать свои капиталы в экономику страны. Инвестиционный климат республики еще недостаточно благоприятен для большинства потенциальных иностранных инвесторов. Главным показателем, характеризующим инвестиционный климат страны, является уровень иностранных инвестиций в национальную экономику. По данным международной организации оценки инвестиционного климата, Молдова занимает по этому показателю одно из последних мест. Выявилась и противоречивая тенденция: денег у банков становится все больше, а кредитов выдается значительно меньше даже при снижении процентных ставок с 10,03% до 8,72% годовых. Спрос на заемные средства снижается, что свидетельствует о замедляющемся темпе роста экономики. </vt:lpstr>
      <vt:lpstr>Для построения стабильного и процветающего государства, выхода на новую качественную ступень развития в Молдове необходимо наличие следующих факторов:      • соблюдение демократических принципов и основных прав граждан;      • последовательные и непрерывные реформы в экономике;      • качественное образование, здравоохранение;      • на рынке труда необходимо обеспечить: 1. рост уровня формальной занятости, которая обеспечит повышение доходов населения, улучшение качества жизни и устойчивое сокращение бедности; 2. создание равных возможностей трудоустройства и профессионального развития для мужчин, женщин и уязвимых групп населения; 3. укрепление взаимосвязи между рынком труда и системой профессиональной подготовки с целью повышения уровня компетенций и квалификации, приема персонала на работу и приспособляемости к рынку труда, а также создание механизма быстрого реагирования на новые потребности рынка труда; 4. использование потенциала международной трудовой миграции для реализации целей политики занятости; 5. укрепление потенциала органов управления в сфере развития партнерств с целью улучшения политики занятости, с соблюдением принципа равенства возможностей.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LOCUL REPUBLICII MOLDOVA IN ECONOMIA MONDIALĂ</dc:title>
  <dc:creator>Dmitri Ulmada</dc:creator>
  <cp:lastModifiedBy>Dmitri Ulmada</cp:lastModifiedBy>
  <cp:revision>5</cp:revision>
  <dcterms:created xsi:type="dcterms:W3CDTF">2022-05-16T18:19:47Z</dcterms:created>
  <dcterms:modified xsi:type="dcterms:W3CDTF">2022-05-16T18:44:24Z</dcterms:modified>
</cp:coreProperties>
</file>